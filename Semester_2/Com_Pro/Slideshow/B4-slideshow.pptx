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</p:embeddedFont>
    <p:embeddedFont>
      <p:font typeface="Barlow Medium" panose="00000600000000000000" pitchFamily="2" charset="0"/>
      <p:regular r:id="rId1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12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623304"/>
            <a:ext cx="726400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Intel Core Ultra 250K+ &amp; 270K+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67938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prochaine révolution du computing — une opportunité d'investissement de </a:t>
            </a:r>
            <a:r>
              <a:rPr lang="en-US" sz="19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million de dollars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pour capturer un marché en pleine transformation.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5142190"/>
            <a:ext cx="2660809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98550" y="5216247"/>
            <a:ext cx="236458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INNOVATION FORUM · PARIS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583" y="687705"/>
            <a:ext cx="7143631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 Marché en Pleine Explosion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50583" y="1841183"/>
            <a:ext cx="1292923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 marché mondial des processeurs haut de gamme représente une opportunité colossale. La demande explose dans le gaming, l'IA embarquée et la création de contenu.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50583" y="3003233"/>
            <a:ext cx="6315075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$150B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2657951" y="4105870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Marché mondial CPU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0583" y="4586883"/>
            <a:ext cx="63150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Estimation 2025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64623" y="3003233"/>
            <a:ext cx="6315194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38%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9271992" y="4105870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Croissance annuelle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64623" y="4586883"/>
            <a:ext cx="63151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Segment haut de gamme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0583" y="5572482"/>
            <a:ext cx="6315075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500M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2657951" y="6675120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PC gamers actifs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0583" y="7156133"/>
            <a:ext cx="63150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Dans le monde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64623" y="5572482"/>
            <a:ext cx="6315194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3x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271992" y="6675120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Demande IA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64623" y="7156133"/>
            <a:ext cx="63151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vs. 2022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1752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Présentation des Core Ultra 250K+ &amp; 270K+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859405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Deuxième génération de la plateforme Intel Core Ultra — architecture </a:t>
            </a:r>
            <a:r>
              <a:rPr lang="en-US" sz="19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Arrow Lake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gravure Intel 17A (1,7nm), conçue pour dominer le desktop haut de gamme.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4322207"/>
            <a:ext cx="7415927" cy="2789873"/>
          </a:xfrm>
          <a:prstGeom prst="roundRect">
            <a:avLst>
              <a:gd name="adj" fmla="val 3717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79277" y="4337447"/>
            <a:ext cx="7385447" cy="1379696"/>
          </a:xfrm>
          <a:prstGeom prst="roundRect">
            <a:avLst>
              <a:gd name="adj" fmla="val 7516"/>
            </a:avLst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1126093" y="45842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Core Ultra 250K+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26093" y="5075277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cœurs · 5,3 GHz · NPU 13 TOPS · Idéal gaming &amp; création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79277" y="5717143"/>
            <a:ext cx="7385447" cy="1379696"/>
          </a:xfrm>
          <a:prstGeom prst="rect">
            <a:avLst/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79277" y="5717143"/>
            <a:ext cx="7385447" cy="30480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126093" y="59639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Core Ultra 270K+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26093" y="6454973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 cœurs · 5,5 GHz · NPU 18 TOPS · Flagship pour IA &amp; workstation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074" y="682704"/>
            <a:ext cx="6194227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Une Architecture de Rupture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74" y="2087404"/>
            <a:ext cx="8300680" cy="4980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157" y="1811060"/>
            <a:ext cx="362985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Ce qui change fondamentalement</a:t>
            </a:r>
            <a:endParaRPr lang="en-US" sz="1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1096" y="2360890"/>
            <a:ext cx="335518" cy="335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64272" y="2349818"/>
            <a:ext cx="3490555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Gravure Intel 17A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17 angströms, une densité inédite pour une efficacité énergétique révolutionnaire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1096" y="4130873"/>
            <a:ext cx="335518" cy="335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64272" y="4119801"/>
            <a:ext cx="3490555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NPU intégré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Accélération IA locale jusqu'à 18 TOPS, sans cloud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1096" y="5218748"/>
            <a:ext cx="335518" cy="33551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364272" y="5207675"/>
            <a:ext cx="3490555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 hybride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Cœurs P, E et LP-E optimisés dynamiquement par l'OS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1096" y="6647617"/>
            <a:ext cx="335518" cy="33551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64272" y="6636544"/>
            <a:ext cx="3490555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Plateforme Z890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PCIe 5.0, DDR5-6400, Thunderbolt 4 natif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026" y="513398"/>
            <a:ext cx="5093613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Avantage Concurrentiel Décisif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10026" y="3276005"/>
            <a:ext cx="31111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Pourquoi nous, pourquoi maintenant 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10026" y="3628430"/>
            <a:ext cx="4998125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AMD Ryzen 9000 et Apple M4 sont performants, mais aucun ne combine </a:t>
            </a:r>
            <a:r>
              <a:rPr lang="en-US" sz="15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NPU intégré + architecture x86 mature + écosystème logiciel universel</a:t>
            </a: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870" y="1291114"/>
            <a:ext cx="4998125" cy="499812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870" y="1291114"/>
            <a:ext cx="4998125" cy="49981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10026" y="6551652"/>
            <a:ext cx="3392329" cy="1164431"/>
          </a:xfrm>
          <a:prstGeom prst="roundRect">
            <a:avLst>
              <a:gd name="adj" fmla="val 9423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2087166" y="6551652"/>
            <a:ext cx="91440" cy="1164431"/>
          </a:xfrm>
          <a:prstGeom prst="roundRect">
            <a:avLst>
              <a:gd name="adj" fmla="val 77962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2371130" y="6744176"/>
            <a:ext cx="20309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🏆</a:t>
            </a: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Leader IA embarquée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371130" y="7065169"/>
            <a:ext cx="293870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Seul Intel offre un NPU de cette puissance sur desktop x86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19036" y="6551652"/>
            <a:ext cx="3392329" cy="1164431"/>
          </a:xfrm>
          <a:prstGeom prst="roundRect">
            <a:avLst>
              <a:gd name="adj" fmla="val 9423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596176" y="6551652"/>
            <a:ext cx="91440" cy="1164431"/>
          </a:xfrm>
          <a:prstGeom prst="roundRect">
            <a:avLst>
              <a:gd name="adj" fmla="val 77962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5880140" y="6744176"/>
            <a:ext cx="212038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⚡</a:t>
            </a: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Efficacité énergétique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880140" y="7065169"/>
            <a:ext cx="293870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−25% de consommation vs. génération précédente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28046" y="6551652"/>
            <a:ext cx="3392329" cy="1164431"/>
          </a:xfrm>
          <a:prstGeom prst="roundRect">
            <a:avLst>
              <a:gd name="adj" fmla="val 9423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9105186" y="6551652"/>
            <a:ext cx="91440" cy="1164431"/>
          </a:xfrm>
          <a:prstGeom prst="roundRect">
            <a:avLst>
              <a:gd name="adj" fmla="val 77962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9389150" y="6744176"/>
            <a:ext cx="1989415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🌐</a:t>
            </a: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Écosystème complet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9389150" y="7065169"/>
            <a:ext cx="293870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Compatible Windows, Linux, toutes les applications professionnelles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993" y="681038"/>
            <a:ext cx="5568196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Des Marchés Cibles Multiples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993" y="1482685"/>
            <a:ext cx="401122" cy="4011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993" y="2087523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Gaming Enthusiast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01993" y="2463879"/>
            <a:ext cx="774001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500M joueurs, prêts à investir dans la performance ultime. Marché à </a:t>
            </a:r>
            <a:r>
              <a:rPr lang="en-US" sz="15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$80B/an</a:t>
            </a: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993" y="3080623"/>
            <a:ext cx="401122" cy="4011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993" y="3685461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IA &amp; Data Science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01993" y="4061817"/>
            <a:ext cx="774001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Développeurs et data scientists cherchant l'inférence locale. Croissance </a:t>
            </a:r>
            <a:r>
              <a:rPr lang="en-US" sz="15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+60%/an</a:t>
            </a: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993" y="4678561"/>
            <a:ext cx="401122" cy="4011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993" y="5283398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Création de Contenu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01993" y="5659755"/>
            <a:ext cx="774001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Montage vidéo 8K, rendu 3D, streaming professionnel. Segment premium en forte hausse.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993" y="6276499"/>
            <a:ext cx="401122" cy="40112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1993" y="6881336"/>
            <a:ext cx="26742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Entreprises &amp; Workstations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01993" y="7257693"/>
            <a:ext cx="774001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Renouvellement des parcs informatiques avec IA intégrée. Contrats B2B récurrents.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43188"/>
            <a:ext cx="81824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Modèle Économique &amp; Projections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076926"/>
            <a:ext cx="80402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7" y="2113478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9297" y="2099786"/>
            <a:ext cx="57542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Revenus ($M)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729026" y="2076926"/>
            <a:ext cx="98036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366" y="2113478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04286" y="2099786"/>
            <a:ext cx="75176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Marge brute ($M)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2317671"/>
            <a:ext cx="6150054" cy="37798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23929" y="2046089"/>
            <a:ext cx="42342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Une trajectoire de croissance claire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623929" y="2635806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fr-FR" sz="1900" noProof="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Notre modèle repose sur des ventes directes aux intégrateurs, une vente en standalone sur toutes les plus grosses plateformes et un partenariat stratégique avec les fabricants de cartes mères.</a:t>
            </a:r>
            <a:endParaRPr lang="fr-FR" sz="1900" noProof="0" dirty="0"/>
          </a:p>
        </p:txBody>
      </p:sp>
      <p:sp>
        <p:nvSpPr>
          <p:cNvPr id="12" name="Shape 7"/>
          <p:cNvSpPr/>
          <p:nvPr/>
        </p:nvSpPr>
        <p:spPr>
          <a:xfrm>
            <a:off x="864037" y="6076236"/>
            <a:ext cx="6327696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1126093" y="63382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Marge brute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1126093" y="6829306"/>
            <a:ext cx="58035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38% dès 2025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7438549" y="6076236"/>
            <a:ext cx="6327815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7700605" y="63382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ROI projeté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7700605" y="6829306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3,2x en 36 mois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72810"/>
            <a:ext cx="5536406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Utilisation des Fonds : $1 Million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158" y="1342668"/>
            <a:ext cx="9052084" cy="5661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13326" y="3935895"/>
            <a:ext cx="1866254" cy="55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Opérations &amp; Talent 10%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81654" y="6468308"/>
            <a:ext cx="1866254" cy="27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Expansion Int. 20%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750503" y="3934678"/>
            <a:ext cx="1866254" cy="55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R&amp;D </a:t>
            </a:r>
            <a:r>
              <a:rPr lang="en-US" sz="1750" dirty="0" err="1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Finalisation</a:t>
            </a: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50%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81654" y="1460992"/>
            <a:ext cx="1866254" cy="55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Marketing &amp; GTM 20%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55100" y="7153632"/>
            <a:ext cx="1112019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 financement nous permet de passer du prototype à la </a:t>
            </a:r>
            <a:r>
              <a:rPr lang="en-US" sz="14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commercialisation à grande échelle</a:t>
            </a: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18 mois, avec un premier marché cible en Europe avant l'expansion Asie-Pacifique.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240155"/>
            <a:ext cx="620184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L'Équipe Derrière le Projet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296239"/>
            <a:ext cx="3584496" cy="2618184"/>
          </a:xfrm>
          <a:prstGeom prst="roundRect">
            <a:avLst>
              <a:gd name="adj" fmla="val 396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126093" y="2558296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🔬</a:t>
            </a: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R&amp;D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26093" y="3072170"/>
            <a:ext cx="306038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150 ingénieurs spécialisés en architecture CPU, issus d'Intel, AMD et NVIDIA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349" y="2296239"/>
            <a:ext cx="3584615" cy="2618184"/>
          </a:xfrm>
          <a:prstGeom prst="roundRect">
            <a:avLst>
              <a:gd name="adj" fmla="val 396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957405" y="2558296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📈</a:t>
            </a: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Commercial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57405" y="3072170"/>
            <a:ext cx="306050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Partenariats actifs avec ASUS, MSI et Gigabyte — canaux de distribution établis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161240"/>
            <a:ext cx="7415927" cy="1828086"/>
          </a:xfrm>
          <a:prstGeom prst="roundRect">
            <a:avLst>
              <a:gd name="adj" fmla="val 5672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126093" y="5423297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🌍</a:t>
            </a: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International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26093" y="5937171"/>
            <a:ext cx="689181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Présence en Europe, accords en cours pour l'Amérique du Nord et l'Asie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393" y="559594"/>
            <a:ext cx="711588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Rejoignez-Nous dans Cette Aventure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88393" y="1361242"/>
            <a:ext cx="7740015" cy="87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 Core Ultra 250K+ &amp; 270K+ n'est pas qu'un processeur — c'est </a:t>
            </a:r>
            <a:r>
              <a:rPr lang="en-US" sz="155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plateforme qui définira le computing de demain</a:t>
            </a: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Votre investissement de </a:t>
            </a:r>
            <a:r>
              <a:rPr lang="en-US" sz="15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$1M</a:t>
            </a: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vous positionne au cœur de cette révolution.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88393" y="2417207"/>
            <a:ext cx="7740015" cy="4318635"/>
          </a:xfrm>
          <a:prstGeom prst="roundRect">
            <a:avLst>
              <a:gd name="adj" fmla="val 195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196012" y="2424827"/>
            <a:ext cx="7724775" cy="1075849"/>
          </a:xfrm>
          <a:prstGeom prst="roundRect">
            <a:avLst>
              <a:gd name="adj" fmla="val 7831"/>
            </a:avLst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396514" y="2625328"/>
            <a:ext cx="222885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🎯</a:t>
            </a: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Opportunité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96514" y="3009305"/>
            <a:ext cx="732377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Marché $150B, croissance 38%/an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6012" y="3500676"/>
            <a:ext cx="7724775" cy="1075849"/>
          </a:xfrm>
          <a:prstGeom prst="rect">
            <a:avLst/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196012" y="3500676"/>
            <a:ext cx="7724775" cy="22860"/>
          </a:xfrm>
          <a:prstGeom prst="roundRect">
            <a:avLst>
              <a:gd name="adj" fmla="val 36855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96514" y="3701177"/>
            <a:ext cx="222885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💡</a:t>
            </a: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Innovation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396514" y="4085153"/>
            <a:ext cx="732377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NPU + Arrow Lake Refresh, avance de 2 ans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6012" y="4576524"/>
            <a:ext cx="7724775" cy="1075849"/>
          </a:xfrm>
          <a:prstGeom prst="rect">
            <a:avLst/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6196012" y="4576524"/>
            <a:ext cx="7724775" cy="22860"/>
          </a:xfrm>
          <a:prstGeom prst="roundRect">
            <a:avLst>
              <a:gd name="adj" fmla="val 36855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396514" y="4777026"/>
            <a:ext cx="222885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📊</a:t>
            </a: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Retour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396514" y="5161002"/>
            <a:ext cx="732377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ROI 3,2x projeté en 36 mois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96012" y="5652373"/>
            <a:ext cx="7724775" cy="1075849"/>
          </a:xfrm>
          <a:prstGeom prst="rect">
            <a:avLst/>
          </a:prstGeom>
          <a:solidFill>
            <a:srgbClr val="790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196012" y="5652373"/>
            <a:ext cx="7724775" cy="22860"/>
          </a:xfrm>
          <a:prstGeom prst="roundRect">
            <a:avLst>
              <a:gd name="adj" fmla="val 36855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396514" y="5852874"/>
            <a:ext cx="222885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🤝</a:t>
            </a: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Partenariat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396514" y="6236851"/>
            <a:ext cx="732377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Accès exclusif aux rounds suivants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188393" y="6919198"/>
            <a:ext cx="7740015" cy="750808"/>
          </a:xfrm>
          <a:prstGeom prst="roundRect">
            <a:avLst>
              <a:gd name="adj" fmla="val 1122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894" y="7215307"/>
            <a:ext cx="250746" cy="20050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40141" y="7132201"/>
            <a:ext cx="6887766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Contact :</a:t>
            </a: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jean-baptiste.gossot@intel.com  · Innovation Forum Paris, Stand B12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648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Barlow</vt:lpstr>
      <vt:lpstr>-apple-system, BlinkMacSystemFont, Segoe UI, Roboto, Helvetica Neue, Arial, sans-serif Medium</vt:lpstr>
      <vt:lpstr>Barlow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Jean-Baptiste POGGIO-GOSSOT</dc:creator>
  <cp:lastModifiedBy>Jean baptiste Gossot</cp:lastModifiedBy>
  <cp:revision>3</cp:revision>
  <dcterms:created xsi:type="dcterms:W3CDTF">2026-04-25T13:04:53Z</dcterms:created>
  <dcterms:modified xsi:type="dcterms:W3CDTF">2026-04-26T07:49:26Z</dcterms:modified>
</cp:coreProperties>
</file>